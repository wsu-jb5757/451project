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racletutorial.com/oracle-basic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FD287-CD9A-7058-35E3-0EF51CC193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Crowd-funding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00806-B2A7-0AD2-837D-1A154126AD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CPTS 451 Spring 2026 Project</a:t>
            </a:r>
          </a:p>
          <a:p>
            <a:r>
              <a:rPr lang="en-US" dirty="0"/>
              <a:t>Crowd-Funding Platform</a:t>
            </a:r>
          </a:p>
          <a:p>
            <a:r>
              <a:rPr lang="en-US" dirty="0"/>
              <a:t>Jodie Butterworth, Group 19</a:t>
            </a:r>
          </a:p>
        </p:txBody>
      </p:sp>
    </p:spTree>
    <p:extLst>
      <p:ext uri="{BB962C8B-B14F-4D97-AF65-F5344CB8AC3E}">
        <p14:creationId xmlns:p14="http://schemas.microsoft.com/office/powerpoint/2010/main" val="1036230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DD365-69FF-99BC-B62C-FB3CD07D7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D1972-D81B-FC44-9C63-67B675826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Crowd-funding platforms allow projects with public interest but limited financial support to organize campaigns to collect funding and advertise to their supporters.</a:t>
            </a:r>
          </a:p>
          <a:p>
            <a:pPr marL="0" indent="0">
              <a:buNone/>
            </a:pPr>
            <a:r>
              <a:rPr lang="en-US" dirty="0"/>
              <a:t>This project creates a database and UI for a crowd-funding platform that collects:</a:t>
            </a:r>
          </a:p>
          <a:p>
            <a:pPr lvl="1"/>
            <a:r>
              <a:rPr lang="en-US" dirty="0"/>
              <a:t>    user data for advertising and tracking campaign donations</a:t>
            </a:r>
          </a:p>
          <a:p>
            <a:pPr lvl="1"/>
            <a:r>
              <a:rPr lang="en-US" dirty="0"/>
              <a:t>    campaign data containing campaign information including funding goals and start and end dates</a:t>
            </a:r>
          </a:p>
          <a:p>
            <a:pPr lvl="1"/>
            <a:r>
              <a:rPr lang="en-US" dirty="0"/>
              <a:t>    transaction data of the donations made and details of each payment</a:t>
            </a:r>
          </a:p>
        </p:txBody>
      </p:sp>
    </p:spTree>
    <p:extLst>
      <p:ext uri="{BB962C8B-B14F-4D97-AF65-F5344CB8AC3E}">
        <p14:creationId xmlns:p14="http://schemas.microsoft.com/office/powerpoint/2010/main" val="4290745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FAE3C-28E3-8D88-BFE2-F15C8BAD8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one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D4653-C640-BAB8-7C1B-7E1FCC813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Organize database architecture</a:t>
            </a:r>
          </a:p>
          <a:p>
            <a:r>
              <a:rPr lang="en-US" dirty="0"/>
              <a:t>Create ER diagram</a:t>
            </a:r>
          </a:p>
          <a:p>
            <a:r>
              <a:rPr lang="en-US" dirty="0"/>
              <a:t>Create the tables, User, Transaction, Campaign in SQL</a:t>
            </a:r>
          </a:p>
          <a:p>
            <a:r>
              <a:rPr lang="en-US" dirty="0"/>
              <a:t>Organize project on Kanban board</a:t>
            </a:r>
          </a:p>
          <a:p>
            <a:r>
              <a:rPr lang="en-US" dirty="0"/>
              <a:t>Create functional and non-functional requirements</a:t>
            </a:r>
          </a:p>
          <a:p>
            <a:r>
              <a:rPr lang="en-US" dirty="0"/>
              <a:t>Create functional objectives and user stories</a:t>
            </a:r>
          </a:p>
        </p:txBody>
      </p:sp>
    </p:spTree>
    <p:extLst>
      <p:ext uri="{BB962C8B-B14F-4D97-AF65-F5344CB8AC3E}">
        <p14:creationId xmlns:p14="http://schemas.microsoft.com/office/powerpoint/2010/main" val="3363714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FAD6A-163C-B3B4-BC28-7153EC3BD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1F867-0098-4DF7-DB00-4C765AA28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871" y="2576052"/>
            <a:ext cx="9733935" cy="3982064"/>
          </a:xfrm>
        </p:spPr>
        <p:txBody>
          <a:bodyPr>
            <a:normAutofit/>
          </a:bodyPr>
          <a:lstStyle/>
          <a:p>
            <a:r>
              <a:rPr lang="en-US" dirty="0"/>
              <a:t>FR-1:	Users must be able to register</a:t>
            </a:r>
          </a:p>
          <a:p>
            <a:r>
              <a:rPr lang="en-US" dirty="0"/>
              <a:t>FR-2:	Users must be able to donate</a:t>
            </a:r>
          </a:p>
          <a:p>
            <a:r>
              <a:rPr lang="en-US" dirty="0"/>
              <a:t>FR-3: 	Admins must be able to create and manage campaigns</a:t>
            </a:r>
          </a:p>
          <a:p>
            <a:r>
              <a:rPr lang="en-US" dirty="0"/>
              <a:t>FR-4: 	Campaigns must be able to collect donations</a:t>
            </a:r>
          </a:p>
          <a:p>
            <a:r>
              <a:rPr lang="en-US" dirty="0"/>
              <a:t>FR-5: 	Campaigns must have a start and an end date</a:t>
            </a:r>
          </a:p>
          <a:p>
            <a:r>
              <a:rPr lang="en-US" dirty="0"/>
              <a:t>FR-6:	Admins must be able to contact users</a:t>
            </a:r>
          </a:p>
          <a:p>
            <a:r>
              <a:rPr lang="en-US" dirty="0"/>
              <a:t>FR-7: 	A UI interface must display site information and data appropriately to users and admins</a:t>
            </a:r>
          </a:p>
          <a:p>
            <a:r>
              <a:rPr lang="en-US" dirty="0"/>
              <a:t>FR-8:	SQL databases created to hold crowd-funding platform data</a:t>
            </a:r>
          </a:p>
          <a:p>
            <a:r>
              <a:rPr lang="en-US" dirty="0"/>
              <a:t>FR-9:	Databases must have checks for errors in data entry</a:t>
            </a:r>
          </a:p>
          <a:p>
            <a:r>
              <a:rPr lang="en-US" dirty="0"/>
              <a:t>FR-10:	Database architecture to include additional tables to improve structure and operating costs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089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28E51-7F4E-3BEC-B89A-A82FAB54D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648D6-ADDA-FDA9-0A41-B43E06CB4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37C66-594A-5F47-A8BC-93FC67F27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871" y="2576052"/>
            <a:ext cx="9733935" cy="3982064"/>
          </a:xfrm>
        </p:spPr>
        <p:txBody>
          <a:bodyPr>
            <a:normAutofit/>
          </a:bodyPr>
          <a:lstStyle/>
          <a:p>
            <a:r>
              <a:rPr lang="en-US" dirty="0"/>
              <a:t>NR-1:	Site must load reasonably quickly</a:t>
            </a:r>
          </a:p>
          <a:p>
            <a:r>
              <a:rPr lang="en-US" dirty="0"/>
              <a:t>NR-2:	Site must encrypt passwords</a:t>
            </a:r>
          </a:p>
          <a:p>
            <a:r>
              <a:rPr lang="en-US" dirty="0"/>
              <a:t>NR-3: 	Donation data must be secure</a:t>
            </a:r>
          </a:p>
          <a:p>
            <a:r>
              <a:rPr lang="en-US" dirty="0"/>
              <a:t>NR-4: 	UI should be easy to use</a:t>
            </a:r>
          </a:p>
          <a:p>
            <a:r>
              <a:rPr lang="en-US" dirty="0"/>
              <a:t>NR-5: 	UI should be desktop and mobile compatible</a:t>
            </a:r>
          </a:p>
          <a:p>
            <a:r>
              <a:rPr lang="en-US" dirty="0"/>
              <a:t>NR-6:	Database must be scalable and easy to edit</a:t>
            </a:r>
          </a:p>
          <a:p>
            <a:r>
              <a:rPr lang="en-US" dirty="0"/>
              <a:t>NR-7: 	Database hardware can be updated or exchanged without significantly changing programming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82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65043-433B-E1F3-EF24-6622A2BD7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25E0B-54ED-B664-B08D-DCFDC355D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E65B6-F398-8EB9-E85D-1BAB493BD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585885"/>
            <a:ext cx="11110451" cy="3982064"/>
          </a:xfrm>
        </p:spPr>
        <p:txBody>
          <a:bodyPr>
            <a:noAutofit/>
          </a:bodyPr>
          <a:lstStyle/>
          <a:p>
            <a:r>
              <a:rPr lang="en-US" sz="1600" dirty="0"/>
              <a:t>U-1:	As a new user, I want to add my information to the registration page so that I can create a user account.</a:t>
            </a:r>
          </a:p>
          <a:p>
            <a:r>
              <a:rPr lang="en-US" sz="1600" dirty="0"/>
              <a:t>U-2:	As a user, I want to access my account so that I can make a donation.</a:t>
            </a:r>
          </a:p>
          <a:p>
            <a:r>
              <a:rPr lang="en-US" sz="1600" dirty="0"/>
              <a:t>U-3: 	As an admin, I want to access the Campaign table so that I can create a new campaign.</a:t>
            </a:r>
          </a:p>
          <a:p>
            <a:r>
              <a:rPr lang="en-US" sz="1600" dirty="0"/>
              <a:t>U-4: 	As an admin, I want to query the database so that I can view the donations collected for a specific campaign.</a:t>
            </a:r>
          </a:p>
          <a:p>
            <a:r>
              <a:rPr lang="en-US" sz="1600" dirty="0"/>
              <a:t>U-5: 	As an admin, I want to edit the campaign dates so that they display valid dates.</a:t>
            </a:r>
          </a:p>
          <a:p>
            <a:r>
              <a:rPr lang="en-US" sz="1600" dirty="0"/>
              <a:t>U-6:	As an admin, I want post campaign information to social media, so that users can know the campaign progress.</a:t>
            </a:r>
          </a:p>
          <a:p>
            <a:r>
              <a:rPr lang="en-US" sz="1600" dirty="0"/>
              <a:t>U-7: 	As a registered user, I want to access my account so that I can view my past donations.</a:t>
            </a:r>
          </a:p>
          <a:p>
            <a:r>
              <a:rPr lang="en-US" sz="1600" dirty="0"/>
              <a:t>U-8:	As an admin, I want to access the data in the User, Transaction and Campaign tables so that I can view the table contents.</a:t>
            </a:r>
          </a:p>
          <a:p>
            <a:r>
              <a:rPr lang="en-US" sz="1600" dirty="0"/>
              <a:t>U-9:	As an admin, I want to secure the donation data so that negative and null donation amounts can not be entered.</a:t>
            </a:r>
          </a:p>
          <a:p>
            <a:r>
              <a:rPr lang="en-US" sz="1600" dirty="0"/>
              <a:t>U-10:	As a registered user, I want to access my user email, so that I can edit it.</a:t>
            </a:r>
          </a:p>
        </p:txBody>
      </p:sp>
    </p:spTree>
    <p:extLst>
      <p:ext uri="{BB962C8B-B14F-4D97-AF65-F5344CB8AC3E}">
        <p14:creationId xmlns:p14="http://schemas.microsoft.com/office/powerpoint/2010/main" val="366591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09CBC-2829-FF43-2A8E-7D5CFF24E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48615"/>
            <a:ext cx="7729728" cy="1188720"/>
          </a:xfrm>
        </p:spPr>
        <p:txBody>
          <a:bodyPr/>
          <a:lstStyle/>
          <a:p>
            <a:r>
              <a:rPr lang="en-US" dirty="0"/>
              <a:t>ER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E41C37-1CDB-FEFE-DEAA-A337F00C0D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961" y="1492340"/>
            <a:ext cx="8373432" cy="51247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AA8D76-7727-8D82-14A2-5E8B3D08DE95}"/>
              </a:ext>
            </a:extLst>
          </p:cNvPr>
          <p:cNvSpPr txBox="1"/>
          <p:nvPr/>
        </p:nvSpPr>
        <p:spPr>
          <a:xfrm>
            <a:off x="8986684" y="1661652"/>
            <a:ext cx="291835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3 Table Entities: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User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Transaction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Campaign</a:t>
            </a:r>
          </a:p>
          <a:p>
            <a:pPr lvl="1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F38DDF-A5DC-BD08-3B37-9566CDE1EC3A}"/>
              </a:ext>
            </a:extLst>
          </p:cNvPr>
          <p:cNvSpPr txBox="1"/>
          <p:nvPr/>
        </p:nvSpPr>
        <p:spPr>
          <a:xfrm>
            <a:off x="9016180" y="2920180"/>
            <a:ext cx="285936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Relationships: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User to Transaction</a:t>
            </a:r>
          </a:p>
          <a:p>
            <a:pPr lvl="1"/>
            <a:r>
              <a:rPr lang="en-US" sz="1600" dirty="0"/>
              <a:t>1 : M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Campaign to Transaction </a:t>
            </a:r>
          </a:p>
          <a:p>
            <a:pPr lvl="1"/>
            <a:r>
              <a:rPr lang="en-US" sz="1600" dirty="0"/>
              <a:t>1 : M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User to Campaign </a:t>
            </a:r>
          </a:p>
          <a:p>
            <a:pPr lvl="1"/>
            <a:r>
              <a:rPr lang="en-US" sz="1600" dirty="0"/>
              <a:t>M : M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Email and </a:t>
            </a:r>
            <a:r>
              <a:rPr lang="en-US" sz="1600" dirty="0" err="1"/>
              <a:t>SocialMedia</a:t>
            </a:r>
            <a:r>
              <a:rPr lang="en-US" sz="1600" dirty="0"/>
              <a:t> tables for multiple type attributes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 err="1"/>
              <a:t>UserCampaign</a:t>
            </a:r>
            <a:r>
              <a:rPr lang="en-US" sz="1600" dirty="0"/>
              <a:t> table to connect User and Campaign </a:t>
            </a:r>
          </a:p>
        </p:txBody>
      </p:sp>
    </p:spTree>
    <p:extLst>
      <p:ext uri="{BB962C8B-B14F-4D97-AF65-F5344CB8AC3E}">
        <p14:creationId xmlns:p14="http://schemas.microsoft.com/office/powerpoint/2010/main" val="2133665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8A2D3-9E59-D663-EF53-D9D5DA82A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F5944-949B-3816-CBBA-B017AA930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735" y="2638044"/>
            <a:ext cx="10274710" cy="4136382"/>
          </a:xfrm>
        </p:spPr>
        <p:txBody>
          <a:bodyPr/>
          <a:lstStyle/>
          <a:p>
            <a:r>
              <a:rPr lang="en-US" dirty="0"/>
              <a:t>Database consists of 3 main tables, User,  Transaction and Campaign</a:t>
            </a:r>
          </a:p>
          <a:p>
            <a:r>
              <a:rPr lang="en-US" dirty="0"/>
              <a:t>Database has 3 helper tables for easier data access and maintenance, </a:t>
            </a:r>
            <a:r>
              <a:rPr lang="en-US" dirty="0" err="1"/>
              <a:t>UserCampaign</a:t>
            </a:r>
            <a:r>
              <a:rPr lang="en-US" dirty="0"/>
              <a:t>, Email and </a:t>
            </a:r>
            <a:r>
              <a:rPr lang="en-US" dirty="0" err="1"/>
              <a:t>SocialMedia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dirty="0" err="1"/>
              <a:t>user_name</a:t>
            </a:r>
            <a:r>
              <a:rPr lang="en-US" dirty="0"/>
              <a:t> attribute is stored in the User table as </a:t>
            </a:r>
            <a:r>
              <a:rPr lang="en-US" dirty="0" err="1"/>
              <a:t>first_name</a:t>
            </a:r>
            <a:r>
              <a:rPr lang="en-US" dirty="0"/>
              <a:t> and </a:t>
            </a:r>
            <a:r>
              <a:rPr lang="en-US" dirty="0" err="1"/>
              <a:t>last_name</a:t>
            </a:r>
            <a:r>
              <a:rPr lang="en-US" dirty="0"/>
              <a:t>.</a:t>
            </a:r>
          </a:p>
          <a:p>
            <a:r>
              <a:rPr lang="en-US" dirty="0"/>
              <a:t>User,  Transaction and Campaign have their PK as ids unique to that record.</a:t>
            </a:r>
          </a:p>
          <a:p>
            <a:r>
              <a:rPr lang="en-US" dirty="0"/>
              <a:t>Transaction has FK for both </a:t>
            </a:r>
            <a:r>
              <a:rPr lang="en-US" dirty="0" err="1"/>
              <a:t>user_id</a:t>
            </a:r>
            <a:r>
              <a:rPr lang="en-US" dirty="0"/>
              <a:t> and </a:t>
            </a:r>
            <a:r>
              <a:rPr lang="en-US" dirty="0" err="1"/>
              <a:t>campaign_id</a:t>
            </a:r>
            <a:r>
              <a:rPr lang="en-US" dirty="0"/>
              <a:t> to connect its records to users and campaigns.</a:t>
            </a:r>
          </a:p>
          <a:p>
            <a:r>
              <a:rPr lang="en-US" dirty="0"/>
              <a:t>Password is shown as calculated because it is hashed.  This may need to change.</a:t>
            </a:r>
          </a:p>
          <a:p>
            <a:r>
              <a:rPr lang="en-US" dirty="0" err="1"/>
              <a:t>Funding_received</a:t>
            </a:r>
            <a:r>
              <a:rPr lang="en-US" dirty="0"/>
              <a:t> is calculated by summing transaction amounts for the campaign.</a:t>
            </a:r>
          </a:p>
          <a:p>
            <a:r>
              <a:rPr lang="en-US" dirty="0" err="1"/>
              <a:t>Donation_history</a:t>
            </a:r>
            <a:r>
              <a:rPr lang="en-US" dirty="0"/>
              <a:t> is assembled for each user from the transaction records and the campaign details.</a:t>
            </a:r>
          </a:p>
          <a:p>
            <a:r>
              <a:rPr lang="en-US" dirty="0"/>
              <a:t>Records of transactions, campaigns and users so not delete if another table’s associated record is deleted.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621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580E8-DCD9-E545-1795-4EE068D397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4250241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B3E80-6D53-961E-5C1D-163CAE489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Creation Oracle Free Entries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3FF62-97DE-77F3-5ED6-2736AD03B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252" y="2634009"/>
            <a:ext cx="3225767" cy="362914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/>
              <a:t>CREATE TABLE PROJECTCAMPAIGN</a:t>
            </a:r>
          </a:p>
          <a:p>
            <a:pPr marL="0" indent="0">
              <a:buNone/>
            </a:pPr>
            <a:r>
              <a:rPr lang="en-US" sz="1000" dirty="0"/>
              <a:t>( </a:t>
            </a:r>
          </a:p>
          <a:p>
            <a:pPr marL="0" indent="0">
              <a:buNone/>
            </a:pPr>
            <a:r>
              <a:rPr lang="en-US" sz="1000" dirty="0" err="1"/>
              <a:t>campaign_id</a:t>
            </a:r>
            <a:r>
              <a:rPr lang="en-US" sz="1000" dirty="0"/>
              <a:t> NUMBER,</a:t>
            </a:r>
          </a:p>
          <a:p>
            <a:pPr marL="0" indent="0">
              <a:buNone/>
            </a:pPr>
            <a:r>
              <a:rPr lang="en-US" sz="1000" dirty="0"/>
              <a:t>title VARCHAR2(255), </a:t>
            </a:r>
          </a:p>
          <a:p>
            <a:pPr marL="0" indent="0">
              <a:buNone/>
            </a:pPr>
            <a:r>
              <a:rPr lang="en-US" sz="1000" dirty="0" err="1"/>
              <a:t>start_date</a:t>
            </a:r>
            <a:r>
              <a:rPr lang="en-US" sz="1000" dirty="0"/>
              <a:t> DATE NOT NULL, </a:t>
            </a:r>
          </a:p>
          <a:p>
            <a:pPr marL="0" indent="0">
              <a:buNone/>
            </a:pPr>
            <a:r>
              <a:rPr lang="en-US" sz="1000" dirty="0" err="1"/>
              <a:t>end_date</a:t>
            </a:r>
            <a:r>
              <a:rPr lang="en-US" sz="1000" dirty="0"/>
              <a:t> DATE NOT NULL, </a:t>
            </a:r>
          </a:p>
          <a:p>
            <a:pPr marL="0" indent="0">
              <a:buNone/>
            </a:pPr>
            <a:r>
              <a:rPr lang="en-US" sz="1000" dirty="0" err="1"/>
              <a:t>funding_goal</a:t>
            </a:r>
            <a:r>
              <a:rPr lang="en-US" sz="1000" dirty="0"/>
              <a:t> DECIMAL(19,4) NOT NULL, </a:t>
            </a:r>
          </a:p>
          <a:p>
            <a:pPr marL="0" indent="0">
              <a:buNone/>
            </a:pPr>
            <a:r>
              <a:rPr lang="en-US" sz="1000" dirty="0" err="1"/>
              <a:t>funding_received</a:t>
            </a:r>
            <a:r>
              <a:rPr lang="en-US" sz="1000" dirty="0"/>
              <a:t> DECIMAL(19,4) DEFAULT 0, </a:t>
            </a:r>
          </a:p>
          <a:p>
            <a:pPr marL="0" indent="0">
              <a:buNone/>
            </a:pPr>
            <a:r>
              <a:rPr lang="en-US" sz="1000" dirty="0"/>
              <a:t>description VARCHAR2(255) NOT NULL, </a:t>
            </a:r>
          </a:p>
          <a:p>
            <a:pPr marL="0" indent="0">
              <a:buNone/>
            </a:pPr>
            <a:r>
              <a:rPr lang="en-US" sz="1000" dirty="0"/>
              <a:t>CONSTRAINT </a:t>
            </a:r>
            <a:r>
              <a:rPr lang="en-US" sz="1000" dirty="0" err="1"/>
              <a:t>campaign_pk</a:t>
            </a:r>
            <a:r>
              <a:rPr lang="en-US" sz="1000" dirty="0"/>
              <a:t> PRIMARY KEY (</a:t>
            </a:r>
            <a:r>
              <a:rPr lang="en-US" sz="1000" dirty="0" err="1"/>
              <a:t>campaign_id</a:t>
            </a:r>
            <a:r>
              <a:rPr lang="en-US" sz="1000" dirty="0"/>
              <a:t>)</a:t>
            </a:r>
          </a:p>
          <a:p>
            <a:pPr marL="0" indent="0">
              <a:buNone/>
            </a:pPr>
            <a:r>
              <a:rPr lang="en-US" sz="1000" dirty="0"/>
              <a:t>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A65164-9827-F4A9-078D-1CDDD74E6990}"/>
              </a:ext>
            </a:extLst>
          </p:cNvPr>
          <p:cNvSpPr txBox="1"/>
          <p:nvPr/>
        </p:nvSpPr>
        <p:spPr>
          <a:xfrm>
            <a:off x="3844019" y="3077497"/>
            <a:ext cx="3165987" cy="2508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000" dirty="0"/>
              <a:t>CREATE TABLE PROJECTUSER</a:t>
            </a:r>
          </a:p>
          <a:p>
            <a:pPr>
              <a:lnSpc>
                <a:spcPct val="200000"/>
              </a:lnSpc>
            </a:pPr>
            <a:r>
              <a:rPr lang="en-US" sz="1000" dirty="0"/>
              <a:t>( </a:t>
            </a:r>
          </a:p>
          <a:p>
            <a:pPr>
              <a:lnSpc>
                <a:spcPct val="200000"/>
              </a:lnSpc>
            </a:pPr>
            <a:r>
              <a:rPr lang="en-US" sz="1000" dirty="0" err="1"/>
              <a:t>user_id</a:t>
            </a:r>
            <a:r>
              <a:rPr lang="en-US" sz="1000" dirty="0"/>
              <a:t> NUMBER,</a:t>
            </a:r>
          </a:p>
          <a:p>
            <a:pPr>
              <a:lnSpc>
                <a:spcPct val="200000"/>
              </a:lnSpc>
            </a:pPr>
            <a:r>
              <a:rPr lang="en-US" sz="1000" dirty="0" err="1"/>
              <a:t>first_name</a:t>
            </a:r>
            <a:r>
              <a:rPr lang="en-US" sz="1000" dirty="0"/>
              <a:t> VARCHAR2(255) NOT NULL, </a:t>
            </a:r>
          </a:p>
          <a:p>
            <a:pPr>
              <a:lnSpc>
                <a:spcPct val="200000"/>
              </a:lnSpc>
            </a:pPr>
            <a:r>
              <a:rPr lang="en-US" sz="1000" dirty="0" err="1"/>
              <a:t>last_name</a:t>
            </a:r>
            <a:r>
              <a:rPr lang="en-US" sz="1000" dirty="0"/>
              <a:t> VARCHAR2(255) NOT NULL, </a:t>
            </a:r>
          </a:p>
          <a:p>
            <a:pPr>
              <a:lnSpc>
                <a:spcPct val="200000"/>
              </a:lnSpc>
            </a:pPr>
            <a:r>
              <a:rPr lang="en-US" sz="1000" dirty="0" err="1"/>
              <a:t>password_hash</a:t>
            </a:r>
            <a:r>
              <a:rPr lang="en-US" sz="1000" dirty="0"/>
              <a:t> VARCHAR2(255) NOT NULL,  </a:t>
            </a:r>
          </a:p>
          <a:p>
            <a:pPr>
              <a:lnSpc>
                <a:spcPct val="200000"/>
              </a:lnSpc>
            </a:pPr>
            <a:r>
              <a:rPr lang="en-US" sz="1000" dirty="0"/>
              <a:t>role VARCAHR2(20) CHECK(role IN(('</a:t>
            </a:r>
            <a:r>
              <a:rPr lang="en-US" sz="1000" dirty="0" err="1"/>
              <a:t>user','admin</a:t>
            </a:r>
            <a:r>
              <a:rPr lang="en-US" sz="1000" dirty="0"/>
              <a:t>'))</a:t>
            </a:r>
          </a:p>
          <a:p>
            <a:pPr>
              <a:lnSpc>
                <a:spcPct val="200000"/>
              </a:lnSpc>
            </a:pPr>
            <a:r>
              <a:rPr lang="en-US" sz="1000" dirty="0"/>
              <a:t>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F0D2D5-704E-AE05-DC8A-B2C04BB9301E}"/>
              </a:ext>
            </a:extLst>
          </p:cNvPr>
          <p:cNvSpPr txBox="1"/>
          <p:nvPr/>
        </p:nvSpPr>
        <p:spPr>
          <a:xfrm>
            <a:off x="7561400" y="2195377"/>
            <a:ext cx="3559278" cy="4662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000" dirty="0"/>
              <a:t>CREATE TABLE PROJECTTRANSACTION</a:t>
            </a:r>
          </a:p>
          <a:p>
            <a:pPr>
              <a:lnSpc>
                <a:spcPct val="200000"/>
              </a:lnSpc>
            </a:pPr>
            <a:r>
              <a:rPr lang="en-US" sz="1000" dirty="0"/>
              <a:t>( </a:t>
            </a:r>
          </a:p>
          <a:p>
            <a:pPr>
              <a:lnSpc>
                <a:spcPct val="200000"/>
              </a:lnSpc>
            </a:pPr>
            <a:r>
              <a:rPr lang="en-US" sz="1000" dirty="0" err="1"/>
              <a:t>transaction_id</a:t>
            </a:r>
            <a:r>
              <a:rPr lang="en-US" sz="1000" dirty="0"/>
              <a:t> NUMBER,</a:t>
            </a:r>
          </a:p>
          <a:p>
            <a:pPr>
              <a:lnSpc>
                <a:spcPct val="200000"/>
              </a:lnSpc>
            </a:pPr>
            <a:r>
              <a:rPr lang="en-US" sz="1000" dirty="0" err="1"/>
              <a:t>campaign_id</a:t>
            </a:r>
            <a:r>
              <a:rPr lang="en-US" sz="1000" dirty="0"/>
              <a:t> NUMBER, </a:t>
            </a:r>
          </a:p>
          <a:p>
            <a:pPr>
              <a:lnSpc>
                <a:spcPct val="200000"/>
              </a:lnSpc>
            </a:pPr>
            <a:r>
              <a:rPr lang="en-US" sz="1000" dirty="0" err="1"/>
              <a:t>user_id</a:t>
            </a:r>
            <a:r>
              <a:rPr lang="en-US" sz="1000" dirty="0"/>
              <a:t> NUMBER, </a:t>
            </a:r>
          </a:p>
          <a:p>
            <a:pPr>
              <a:lnSpc>
                <a:spcPct val="200000"/>
              </a:lnSpc>
            </a:pPr>
            <a:r>
              <a:rPr lang="en-US" sz="1000" dirty="0" err="1"/>
              <a:t>authorization_num</a:t>
            </a:r>
            <a:r>
              <a:rPr lang="en-US" sz="1000" dirty="0"/>
              <a:t> VARCHAR2(255) NOT NULL,</a:t>
            </a:r>
          </a:p>
          <a:p>
            <a:pPr>
              <a:lnSpc>
                <a:spcPct val="200000"/>
              </a:lnSpc>
            </a:pPr>
            <a:r>
              <a:rPr lang="en-US" sz="1000" dirty="0" err="1"/>
              <a:t>payment_type</a:t>
            </a:r>
            <a:r>
              <a:rPr lang="en-US" sz="1000" dirty="0"/>
              <a:t> VARCHAR2(255) NOT NULL,</a:t>
            </a:r>
          </a:p>
          <a:p>
            <a:pPr>
              <a:lnSpc>
                <a:spcPct val="200000"/>
              </a:lnSpc>
            </a:pPr>
            <a:r>
              <a:rPr lang="en-US" sz="1000" dirty="0" err="1"/>
              <a:t>payment_date</a:t>
            </a:r>
            <a:r>
              <a:rPr lang="en-US" sz="1000" dirty="0"/>
              <a:t> DATE NOT NULL, </a:t>
            </a:r>
          </a:p>
          <a:p>
            <a:pPr>
              <a:lnSpc>
                <a:spcPct val="200000"/>
              </a:lnSpc>
            </a:pPr>
            <a:r>
              <a:rPr lang="en-US" sz="1000" dirty="0"/>
              <a:t>amount DECIMAL(19,4) NOT NULL, CHECK(amount&gt;0),</a:t>
            </a:r>
          </a:p>
          <a:p>
            <a:pPr>
              <a:lnSpc>
                <a:spcPct val="200000"/>
              </a:lnSpc>
            </a:pPr>
            <a:r>
              <a:rPr lang="en-US" sz="1000" dirty="0"/>
              <a:t>CONSTRAINT </a:t>
            </a:r>
            <a:r>
              <a:rPr lang="en-US" sz="1000" dirty="0" err="1"/>
              <a:t>fk_campaign</a:t>
            </a:r>
            <a:r>
              <a:rPr lang="en-US" sz="1000" dirty="0"/>
              <a:t> FOREIGN KEY (</a:t>
            </a:r>
            <a:r>
              <a:rPr lang="en-US" sz="1000" dirty="0" err="1"/>
              <a:t>campaign_id</a:t>
            </a:r>
            <a:r>
              <a:rPr lang="en-US" sz="1000" dirty="0"/>
              <a:t>) REFERENCES </a:t>
            </a:r>
            <a:r>
              <a:rPr lang="en-US" sz="1000" dirty="0" err="1"/>
              <a:t>ProjectCampaign</a:t>
            </a:r>
            <a:r>
              <a:rPr lang="en-US" sz="1000" dirty="0"/>
              <a:t>(</a:t>
            </a:r>
            <a:r>
              <a:rPr lang="en-US" sz="1000" dirty="0" err="1"/>
              <a:t>campaign_id</a:t>
            </a:r>
            <a:r>
              <a:rPr lang="en-US" sz="1000" dirty="0"/>
              <a:t>),</a:t>
            </a:r>
          </a:p>
          <a:p>
            <a:pPr>
              <a:lnSpc>
                <a:spcPct val="200000"/>
              </a:lnSpc>
            </a:pPr>
            <a:r>
              <a:rPr lang="en-US" sz="1000" dirty="0"/>
              <a:t>CONSTRAINT </a:t>
            </a:r>
            <a:r>
              <a:rPr lang="en-US" sz="1000" dirty="0" err="1"/>
              <a:t>fk_user</a:t>
            </a:r>
            <a:r>
              <a:rPr lang="en-US" sz="1000" dirty="0"/>
              <a:t> FOREIGN KEY (</a:t>
            </a:r>
            <a:r>
              <a:rPr lang="en-US" sz="1000" dirty="0" err="1"/>
              <a:t>user_id</a:t>
            </a:r>
            <a:r>
              <a:rPr lang="en-US" sz="1000" dirty="0"/>
              <a:t>) REFERENCES </a:t>
            </a:r>
            <a:r>
              <a:rPr lang="en-US" sz="1000" dirty="0" err="1"/>
              <a:t>ProjectUser</a:t>
            </a:r>
            <a:r>
              <a:rPr lang="en-US" sz="1000" dirty="0"/>
              <a:t>(</a:t>
            </a:r>
            <a:r>
              <a:rPr lang="en-US" sz="1000" dirty="0" err="1"/>
              <a:t>user_id</a:t>
            </a:r>
            <a:r>
              <a:rPr lang="en-US" sz="1000" dirty="0"/>
              <a:t>),</a:t>
            </a:r>
          </a:p>
          <a:p>
            <a:pPr>
              <a:lnSpc>
                <a:spcPct val="200000"/>
              </a:lnSpc>
            </a:pPr>
            <a:r>
              <a:rPr lang="en-US" sz="1000" dirty="0"/>
              <a:t>CONSTRAINT </a:t>
            </a:r>
            <a:r>
              <a:rPr lang="en-US" sz="1000" dirty="0" err="1"/>
              <a:t>pk_transaction</a:t>
            </a:r>
            <a:r>
              <a:rPr lang="en-US" sz="1000" dirty="0"/>
              <a:t> PRIMARY KEY (</a:t>
            </a:r>
            <a:r>
              <a:rPr lang="en-US" sz="1000" dirty="0" err="1"/>
              <a:t>transaction_id</a:t>
            </a:r>
            <a:r>
              <a:rPr lang="en-US" sz="1000" dirty="0"/>
              <a:t>)</a:t>
            </a:r>
          </a:p>
          <a:p>
            <a:pPr>
              <a:lnSpc>
                <a:spcPct val="200000"/>
              </a:lnSpc>
            </a:pPr>
            <a:r>
              <a:rPr lang="en-US" sz="1000" dirty="0"/>
              <a:t>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95B1D9-4351-613F-8925-37BA2FBDE7D9}"/>
              </a:ext>
            </a:extLst>
          </p:cNvPr>
          <p:cNvSpPr txBox="1"/>
          <p:nvPr/>
        </p:nvSpPr>
        <p:spPr>
          <a:xfrm>
            <a:off x="1356852" y="6263149"/>
            <a:ext cx="51914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 referenced </a:t>
            </a:r>
            <a:r>
              <a:rPr lang="en-US" sz="1000" dirty="0">
                <a:hlinkClick r:id="rId2"/>
              </a:rPr>
              <a:t>https://www.oracletutorial.com/oracle-basics</a:t>
            </a:r>
            <a:r>
              <a:rPr lang="en-US" sz="1000" dirty="0"/>
              <a:t> when making this code</a:t>
            </a:r>
          </a:p>
        </p:txBody>
      </p:sp>
    </p:spTree>
    <p:extLst>
      <p:ext uri="{BB962C8B-B14F-4D97-AF65-F5344CB8AC3E}">
        <p14:creationId xmlns:p14="http://schemas.microsoft.com/office/powerpoint/2010/main" val="563092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528D6-08FD-C096-8D78-8996B95EEB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941402"/>
            <a:ext cx="8991600" cy="1645920"/>
          </a:xfrm>
        </p:spPr>
        <p:txBody>
          <a:bodyPr/>
          <a:lstStyle/>
          <a:p>
            <a:r>
              <a:rPr lang="en-US" dirty="0"/>
              <a:t>Reflection and future plans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2946D9-1443-A489-621A-1A6BB0B0F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3280827"/>
            <a:ext cx="8991600" cy="2844669"/>
          </a:xfrm>
        </p:spPr>
        <p:txBody>
          <a:bodyPr>
            <a:normAutofit/>
          </a:bodyPr>
          <a:lstStyle/>
          <a:p>
            <a:pPr marL="285750" indent="-285750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Test out different SQLs and possibly change to </a:t>
            </a:r>
            <a:r>
              <a:rPr lang="en-US" sz="1600" dirty="0" err="1"/>
              <a:t>mySQL</a:t>
            </a:r>
            <a:r>
              <a:rPr lang="en-US" sz="1600" dirty="0"/>
              <a:t> or Postgres</a:t>
            </a:r>
          </a:p>
          <a:p>
            <a:pPr marL="285750" indent="-285750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I had to redo both the Kanban board tasks and the database architecture, so I may want to spend more time on research to reduce revision time.</a:t>
            </a:r>
          </a:p>
          <a:p>
            <a:pPr marL="285750" indent="-285750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Encryption may be necessary for more database entries than password.</a:t>
            </a:r>
          </a:p>
          <a:p>
            <a:pPr marL="285750" indent="-285750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dirty="0" err="1"/>
              <a:t>Donation_history</a:t>
            </a:r>
            <a:r>
              <a:rPr lang="en-US" sz="1600" dirty="0"/>
              <a:t> may change its query if necessary.</a:t>
            </a:r>
          </a:p>
          <a:p>
            <a:pPr marL="285750" indent="-285750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I have a lot of projects that I’m doing solo, so I may need to start earlier to prevent work piling up.</a:t>
            </a:r>
          </a:p>
          <a:p>
            <a:pPr marL="285750" indent="-285750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Additional constraints on entries will probably be added, like greater than 0 on </a:t>
            </a:r>
            <a:r>
              <a:rPr lang="en-US" sz="1600" dirty="0" err="1"/>
              <a:t>funding_goal</a:t>
            </a:r>
            <a:r>
              <a:rPr lang="en-US" sz="1600" dirty="0"/>
              <a:t>.</a:t>
            </a:r>
          </a:p>
          <a:p>
            <a:pPr algn="l"/>
            <a:endParaRPr lang="en-US" sz="1800" dirty="0"/>
          </a:p>
          <a:p>
            <a:pPr algn="l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57497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3C9B7-2505-CB78-D92E-AEAC768AE6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for watching</a:t>
            </a:r>
          </a:p>
        </p:txBody>
      </p:sp>
    </p:spTree>
    <p:extLst>
      <p:ext uri="{BB962C8B-B14F-4D97-AF65-F5344CB8AC3E}">
        <p14:creationId xmlns:p14="http://schemas.microsoft.com/office/powerpoint/2010/main" val="4246405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158</TotalTime>
  <Words>1100</Words>
  <Application>Microsoft Office PowerPoint</Application>
  <PresentationFormat>Widescreen</PresentationFormat>
  <Paragraphs>115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Courier New</vt:lpstr>
      <vt:lpstr>Gill Sans MT</vt:lpstr>
      <vt:lpstr>Parcel</vt:lpstr>
      <vt:lpstr>Crowd-funding platform</vt:lpstr>
      <vt:lpstr>introduction</vt:lpstr>
      <vt:lpstr>Sprint one objectives</vt:lpstr>
      <vt:lpstr>Functional requirements</vt:lpstr>
      <vt:lpstr>Non-Functional requirements</vt:lpstr>
      <vt:lpstr>User Stories</vt:lpstr>
      <vt:lpstr>ER Diagram</vt:lpstr>
      <vt:lpstr>Database Design</vt:lpstr>
      <vt:lpstr>Demo</vt:lpstr>
      <vt:lpstr>Table Creation Oracle Free Entries</vt:lpstr>
      <vt:lpstr>Reflection and future plans</vt:lpstr>
      <vt:lpstr>Thank YOU for watching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Butterworth, Jodie</dc:creator>
  <cp:lastModifiedBy>Butterworth, Jodie</cp:lastModifiedBy>
  <cp:revision>8</cp:revision>
  <dcterms:created xsi:type="dcterms:W3CDTF">2026-03-15T16:21:17Z</dcterms:created>
  <dcterms:modified xsi:type="dcterms:W3CDTF">2026-03-15T18:59:43Z</dcterms:modified>
</cp:coreProperties>
</file>